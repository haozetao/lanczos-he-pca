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开场强调：这不是简单把现有推荐算法套进 MPC，而是把矩阵分解算法和三方计算协议协同设计。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讲解时可以用“平台知道你看了什么、喜欢什么、没点什么”切入；Nudge 的定位是密码学隐私而非单纯合规匿名化。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这里要清楚区分：Nudge 的安全不是零泄露，模型本身仍可能编码聚合行为，所以论文后面讨论差分隐私作为补充。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建议用这页建立全局地图：后面所有密码学细节都服务于第二步的 private matrix factorization。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 RSS 与 FSS 不需要深入公式：RSS 让三方可以非交互地做线性代数；FSS 让比较、截断等非线性门以低通信完成。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这页不要逐行念伪代码；先讲 PCA/矩阵分解直觉：找到 item 空间里的主要方向，再用这些方向表达每个用户。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这一页详细讲算法。强调 UᵀU 不需要显式公开；服务器只在 secret shares 上做矩阵-向量程序。公开 B 是设计选择，因为 B 是最终聚合模型的一部分。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这一页是技术桥梁：算法的每个操作都要落到 3PC 原语。不要展开大 O 公式，讲“线性代数占计算，非线性门决定通信轮数”。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注意提醒：Nudge 与非隐私 SVD 的成本不是同一量级，但论文关注的是在强隐私下能否达到实用规模。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这里重点讲 nDCG@20=0.29 这个数字：它与明文矩阵分解相当，说明隐私计算带来的主要代价在系统成本，而不是推荐质量。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6 很密，只需要讲高亮行。MovieLens1M 相比 GraphSC 从估计 11 天到 32.8 秒，是论文最有冲击力的对比之一。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这页讲规模边界。Nudge 可以到很大，但它看不到稀疏结构，因此计算随 m×n 增长，这也是后续 dimensionality reduction 的动机。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这页把训练和服务分开讲：训练是周期性重成本；在线服务延迟和通信是用户体感。扩展部分只讲思想，不展开公式。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这页保持中立，不要把 limitations 弱化。它的价值在强隐私和规模之间找到工程可行点，但前提条件很清楚。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收束时提醒：Nudge 的意义在于展示了 numerical linear algebra 与 MPC 协同设计的潜力，可迁移到 PCA、PageRank、spectral clustering 等任务。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73152" cy="5394960"/>
          </a:xfrm>
          <a:prstGeom prst="rect">
            <a:avLst/>
          </a:prstGeom>
          <a:solidFill>
            <a:srgbClr val="2A5CAA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9784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C6575"/>
                </a:solidFill>
                <a:latin typeface="Microsoft YaHei"/>
              </a:rPr>
              <a:t>论文精读汇报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1C212A"/>
                </a:solidFill>
                <a:latin typeface="Microsoft YaHei"/>
              </a:rPr>
              <a:t>Nudge: A Private
Recommendations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514600"/>
            <a:ext cx="99669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A5CAA"/>
                </a:solidFill>
                <a:latin typeface="Microsoft YaHei"/>
              </a:rPr>
              <a:t>三方安全计算驱动的隐私保护推荐系统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71323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Alexandra Henzinger · Emma Dauterman · Henry Corrigan-Gibbs · Dan Boneh</a:t>
            </a:r>
          </a:p>
          <a:p>
            <a:pPr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MIT / Stanford · USENIX Security · 代码开源：Zenodo 17968761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3200400"/>
            <a:ext cx="2926080" cy="1554480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12A"/>
                </a:solidFill>
                <a:latin typeface="Microsoft YaHei"/>
              </a:rPr>
              <a:t>一句话：</a:t>
            </a:r>
            <a:br/>
            <a:r>
              <a:rPr sz="1400" b="1">
                <a:solidFill>
                  <a:srgbClr val="1C212A"/>
                </a:solidFill>
                <a:latin typeface="Microsoft YaHei"/>
              </a:rPr>
              <a:t>把推荐训练放进 3PC，</a:t>
            </a:r>
            <a:br/>
            <a:r>
              <a:rPr sz="1400" b="1">
                <a:solidFill>
                  <a:srgbClr val="1C212A"/>
                </a:solidFill>
                <a:latin typeface="Microsoft YaHei"/>
              </a:rPr>
              <a:t>只泄露聚合模型本身。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推荐系统越个性化，越需要处理敏感行为轨迹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研究背景与待解决问题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931920" cy="1554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点击、观看、评分暴露偏好</a:t>
            </a: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传统平台直接持有明文日志</a:t>
            </a: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数据转卖、泄露与滥用风险真实存在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280160"/>
            <a:ext cx="1645920" cy="685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C212A"/>
                </a:solidFill>
                <a:latin typeface="Microsoft YaHei"/>
              </a:rPr>
              <a:t>匿名代理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280160"/>
            <a:ext cx="1645920" cy="685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C212A"/>
                </a:solidFill>
                <a:latin typeface="Microsoft YaHei"/>
              </a:rPr>
              <a:t>联邦学习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280160"/>
            <a:ext cx="1645920" cy="685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C212A"/>
                </a:solidFill>
                <a:latin typeface="Microsoft YaHei"/>
              </a:rPr>
              <a:t>可信硬件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331720"/>
            <a:ext cx="5303520" cy="804672"/>
          </a:xfrm>
          <a:prstGeom prst="roundRect">
            <a:avLst/>
          </a:prstGeom>
          <a:solidFill>
            <a:srgbClr val="F9E2E2"/>
          </a:solidFill>
          <a:ln w="12700">
            <a:solidFill>
              <a:srgbClr val="A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C212A"/>
                </a:solidFill>
                <a:latin typeface="Microsoft YaHei"/>
              </a:rPr>
              <a:t>仍可能泄露中间模型、身份链路或受侧信道攻击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0" y="1965960"/>
            <a:ext cx="777240" cy="365760"/>
          </a:xfrm>
          <a:prstGeom prst="line">
            <a:avLst/>
          </a:prstGeom>
          <a:ln w="20320">
            <a:solidFill>
              <a:srgbClr val="A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43800" y="1965960"/>
            <a:ext cx="0" cy="365760"/>
          </a:xfrm>
          <a:prstGeom prst="line">
            <a:avLst/>
          </a:prstGeom>
          <a:ln w="20320">
            <a:solidFill>
              <a:srgbClr val="A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641080" y="1965960"/>
            <a:ext cx="594360" cy="365760"/>
          </a:xfrm>
          <a:prstGeom prst="line">
            <a:avLst/>
          </a:prstGeom>
          <a:ln w="20320">
            <a:solidFill>
              <a:srgbClr val="A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160520"/>
            <a:ext cx="105156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C212A"/>
                </a:solidFill>
                <a:latin typeface="Microsoft YaHei"/>
              </a:rPr>
              <a:t>Nudge 的目标不是隐藏模型存在，而是让服务器在训练与推荐过程中看不到任何单个用户的偏好明文。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5989320"/>
            <a:ext cx="11155680" cy="384048"/>
          </a:xfrm>
          <a:prstGeom prst="roundRect">
            <a:avLst/>
          </a:prstGeom>
          <a:solidFill>
            <a:srgbClr val="FAF0DC"/>
          </a:solidFill>
          <a:ln w="12700">
            <a:solidFill>
              <a:srgbClr val="A47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C212A"/>
                </a:solidFill>
                <a:latin typeface="Microsoft YaHei"/>
              </a:rPr>
              <a:t>核心瓶颈：已有私密推荐系统规模太小；已有大规模推荐系统隐私太弱。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Nudge 的安全承诺：一台服务器被攻陷仍看不到用户偏好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系统目标、泄露边界与非目标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3108960" cy="1051560"/>
          </a:xfrm>
          <a:prstGeom prst="roundRect">
            <a:avLst/>
          </a:prstGeom>
          <a:solidFill>
            <a:srgbClr val="E2F2EB"/>
          </a:solidFill>
          <a:ln w="12700">
            <a:solidFill>
              <a:srgbClr val="26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保护对象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用户评分 / 交互行为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3108960" cy="1051560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信任拆分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3 台独立服务器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325880"/>
            <a:ext cx="3108960" cy="1051560"/>
          </a:xfrm>
          <a:prstGeom prst="roundRect">
            <a:avLst/>
          </a:prstGeom>
          <a:solidFill>
            <a:srgbClr val="FAF0DC"/>
          </a:solidFill>
          <a:ln w="12700">
            <a:solidFill>
              <a:srgbClr val="A47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威胁模型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半诚实 + 攻陷 1 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4983480" cy="1325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服务器学习：聚合推荐模型 B</a:t>
            </a: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服务器学习：每个用户提交了多少评分</a:t>
            </a: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服务器不学习：用户给哪些 item 评分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971800"/>
            <a:ext cx="4937760" cy="1325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不防恶意服务器偏离协议</a:t>
            </a: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不防 2 台或更多服务器串谋</a:t>
            </a: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不负责 item 的私密获取，需要 PIR / Tor / Private Relay 等配合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5989320"/>
            <a:ext cx="11155680" cy="384048"/>
          </a:xfrm>
          <a:prstGeom prst="roundRect">
            <a:avLst/>
          </a:prstGeom>
          <a:solidFill>
            <a:srgbClr val="E2F2EB"/>
          </a:solidFill>
          <a:ln w="12700">
            <a:solidFill>
              <a:srgbClr val="26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C212A"/>
                </a:solidFill>
                <a:latin typeface="Microsoft YaHei"/>
              </a:rPr>
              <a:t>它把“平台必须看见用户日志才能推荐”的默认假设，改成了“只看聚合模型”。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协议层面只有三件事：收集、训练、返回推荐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Protocol flow</a:t>
            </a:r>
          </a:p>
        </p:txBody>
      </p:sp>
      <p:pic>
        <p:nvPicPr>
          <p:cNvPr id="4" name="Picture 3" descr="fig1_protocol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28" y="1234440"/>
            <a:ext cx="2664822" cy="2331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23360" y="1417320"/>
            <a:ext cx="2148840" cy="1600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80" b="1">
                <a:solidFill>
                  <a:srgbClr val="1C212A"/>
                </a:solidFill>
                <a:latin typeface="Microsoft YaHei"/>
              </a:rPr>
              <a:t>1. Private data collection</a:t>
            </a:r>
            <a:br/>
            <a:r>
              <a:rPr sz="1080" b="1">
                <a:solidFill>
                  <a:srgbClr val="1C212A"/>
                </a:solidFill>
                <a:latin typeface="Microsoft YaHei"/>
              </a:rPr>
              <a:t>用户把 rating vector</a:t>
            </a:r>
            <a:br/>
            <a:r>
              <a:rPr sz="1080" b="1">
                <a:solidFill>
                  <a:srgbClr val="1C212A"/>
                </a:solidFill>
                <a:latin typeface="Microsoft YaHei"/>
              </a:rPr>
              <a:t>秘密分享给三台服务器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72200" y="2212848"/>
            <a:ext cx="457200" cy="0"/>
          </a:xfrm>
          <a:prstGeom prst="line">
            <a:avLst/>
          </a:prstGeom>
          <a:ln w="20320"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629400" y="1417320"/>
            <a:ext cx="2148840" cy="1600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80" b="1">
                <a:solidFill>
                  <a:srgbClr val="1C212A"/>
                </a:solidFill>
                <a:latin typeface="Microsoft YaHei"/>
              </a:rPr>
              <a:t>2. Private matrix factorization</a:t>
            </a:r>
            <a:br/>
            <a:r>
              <a:rPr sz="1080" b="1">
                <a:solidFill>
                  <a:srgbClr val="1C212A"/>
                </a:solidFill>
                <a:latin typeface="Microsoft YaHei"/>
              </a:rPr>
              <a:t>服务器在 3PC 中训练</a:t>
            </a:r>
            <a:br/>
            <a:r>
              <a:rPr sz="1080" b="1">
                <a:solidFill>
                  <a:srgbClr val="1C212A"/>
                </a:solidFill>
                <a:latin typeface="Microsoft YaHei"/>
              </a:rPr>
              <a:t>A（用户嵌入）与 B（物品嵌入）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2212848"/>
            <a:ext cx="457200" cy="0"/>
          </a:xfrm>
          <a:prstGeom prst="line">
            <a:avLst/>
          </a:prstGeom>
          <a:ln w="20320"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235440" y="1417320"/>
            <a:ext cx="2148840" cy="1600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80" b="1">
                <a:solidFill>
                  <a:srgbClr val="1C212A"/>
                </a:solidFill>
                <a:latin typeface="Microsoft YaHei"/>
              </a:rPr>
              <a:t>3. Private recommendation</a:t>
            </a:r>
            <a:br/>
            <a:r>
              <a:rPr sz="1080" b="1">
                <a:solidFill>
                  <a:srgbClr val="1C212A"/>
                </a:solidFill>
                <a:latin typeface="Microsoft YaHei"/>
              </a:rPr>
              <a:t>返回用户个性化分数的</a:t>
            </a:r>
            <a:br/>
            <a:r>
              <a:rPr sz="1080" b="1">
                <a:solidFill>
                  <a:srgbClr val="1C212A"/>
                </a:solidFill>
                <a:latin typeface="Microsoft YaHei"/>
              </a:rPr>
              <a:t>secret shares，用户本地恢复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886200"/>
            <a:ext cx="6949440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C212A"/>
                </a:solidFill>
                <a:latin typeface="Microsoft YaHei"/>
              </a:rPr>
              <a:t>• A 是每个用户的 embedding，仍为 secret-shared</a:t>
            </a:r>
          </a:p>
          <a:p>
            <a:pPr>
              <a:lnSpc>
                <a:spcPct val="108000"/>
              </a:lnSpc>
            </a:pPr>
            <a:r>
              <a:rPr sz="1300" b="0">
                <a:solidFill>
                  <a:srgbClr val="1C212A"/>
                </a:solidFill>
                <a:latin typeface="Microsoft YaHei"/>
              </a:rPr>
              <a:t>• B 是 item embedding，可公开给服务器用于后续推荐</a:t>
            </a:r>
          </a:p>
          <a:p>
            <a:pPr>
              <a:lnSpc>
                <a:spcPct val="108000"/>
              </a:lnSpc>
            </a:pPr>
            <a:r>
              <a:rPr sz="1300" b="0">
                <a:solidFill>
                  <a:srgbClr val="1C212A"/>
                </a:solidFill>
                <a:latin typeface="Microsoft YaHei"/>
              </a:rPr>
              <a:t>• 用户最终只恢复自己的推荐分数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C6575"/>
                </a:solidFill>
                <a:latin typeface="Microsoft YaHei"/>
              </a:rPr>
              <a:t>Source: Fig. 1 and Section 3.2, Nudge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技术核心：把 power iteration 写成 3PC 友好的 matrix-vector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Secure computation primitives</a:t>
            </a:r>
          </a:p>
        </p:txBody>
      </p:sp>
      <p:pic>
        <p:nvPicPr>
          <p:cNvPr id="4" name="Picture 3" descr="fig2_matrix_vector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4318"/>
            <a:ext cx="5166360" cy="1689002"/>
          </a:xfrm>
          <a:prstGeom prst="rect">
            <a:avLst/>
          </a:prstGeom>
        </p:spPr>
      </p:pic>
      <p:pic>
        <p:nvPicPr>
          <p:cNvPr id="5" name="Picture 4" descr="table3_3pc_fun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931" y="1097280"/>
            <a:ext cx="4330337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520440"/>
            <a:ext cx="4983480" cy="11887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350" b="0">
                <a:solidFill>
                  <a:srgbClr val="1C212A"/>
                </a:solidFill>
                <a:latin typeface="Microsoft YaHei"/>
              </a:rPr>
              <a:t>• 线性部分：RSS 支持密态矩阵-向量乘</a:t>
            </a:r>
          </a:p>
          <a:p>
            <a:pPr>
              <a:lnSpc>
                <a:spcPct val="108000"/>
              </a:lnSpc>
            </a:pPr>
            <a:r>
              <a:rPr sz="1350" b="0">
                <a:solidFill>
                  <a:srgbClr val="1C212A"/>
                </a:solidFill>
                <a:latin typeface="Microsoft YaHei"/>
              </a:rPr>
              <a:t>• 非线性部分：FSS 支持 truncation / normalization</a:t>
            </a:r>
          </a:p>
          <a:p>
            <a:pPr>
              <a:lnSpc>
                <a:spcPct val="108000"/>
              </a:lnSpc>
            </a:pPr>
            <a:r>
              <a:rPr sz="1350" b="0">
                <a:solidFill>
                  <a:srgbClr val="1C212A"/>
                </a:solidFill>
                <a:latin typeface="Microsoft YaHei"/>
              </a:rPr>
              <a:t>• 通信随用户数和 item 数线性增长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886200"/>
            <a:ext cx="480060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350" b="0">
                <a:solidFill>
                  <a:srgbClr val="1C212A"/>
                </a:solidFill>
                <a:latin typeface="Microsoft YaHei"/>
              </a:rPr>
              <a:t>• 新贡献：3PC truncation 通信约 6× 改进</a:t>
            </a:r>
          </a:p>
          <a:p>
            <a:pPr>
              <a:lnSpc>
                <a:spcPct val="108000"/>
              </a:lnSpc>
            </a:pPr>
            <a:r>
              <a:rPr sz="1350" b="0">
                <a:solidFill>
                  <a:srgbClr val="1C212A"/>
                </a:solidFill>
                <a:latin typeface="Microsoft YaHei"/>
              </a:rPr>
              <a:t>• normalization 用 MSB + Newton-Raphson 找近似缩放因子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5989320"/>
            <a:ext cx="11155680" cy="384048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C212A"/>
                </a:solidFill>
                <a:latin typeface="Microsoft YaHei"/>
              </a:rPr>
              <a:t>抽象关键：只要算法可分解为“矩阵乘 + 简单非线性”，就能高效放进 3PC。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73952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C6575"/>
                </a:solidFill>
                <a:latin typeface="Microsoft YaHei"/>
              </a:rPr>
              <a:t>Source: Fig. 2, Table 3, Sections 4.1-4.3, Nudge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矩阵分解算法：用 power iteration 逐个提取 item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Algorithm core</a:t>
            </a:r>
          </a:p>
        </p:txBody>
      </p:sp>
      <p:pic>
        <p:nvPicPr>
          <p:cNvPr id="4" name="Picture 3" descr="fig4_power_iteration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536" y="960120"/>
            <a:ext cx="3010486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1234440"/>
            <a:ext cx="5806440" cy="12344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C212A"/>
                </a:solidFill>
                <a:latin typeface="Microsoft YaHei"/>
              </a:rPr>
              <a:t>• 目标：把评分矩阵 U 分解为 A·B</a:t>
            </a:r>
          </a:p>
          <a:p>
            <a:pPr>
              <a:lnSpc>
                <a:spcPct val="108000"/>
              </a:lnSpc>
            </a:pPr>
            <a:r>
              <a:rPr sz="1500" b="0">
                <a:solidFill>
                  <a:srgbClr val="1C212A"/>
                </a:solidFill>
                <a:latin typeface="Microsoft YaHei"/>
              </a:rPr>
              <a:t>• B 的每一行是 UᵀU 的 top eigenvector</a:t>
            </a:r>
          </a:p>
          <a:p>
            <a:pPr>
              <a:lnSpc>
                <a:spcPct val="108000"/>
              </a:lnSpc>
            </a:pPr>
            <a:r>
              <a:rPr sz="1500" b="0">
                <a:solidFill>
                  <a:srgbClr val="1C212A"/>
                </a:solidFill>
                <a:latin typeface="Microsoft YaHei"/>
              </a:rPr>
              <a:t>• A = U·Bᵀ 是最后一步线性计算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3063240"/>
            <a:ext cx="5440680" cy="1051560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1C212A"/>
                </a:solidFill>
                <a:latin typeface="Microsoft YaHei"/>
              </a:rPr>
              <a:t>为什么不是梯度下降？</a:t>
            </a:r>
            <a:br/>
            <a:r>
              <a:rPr sz="1350" b="1">
                <a:solidFill>
                  <a:srgbClr val="1C212A"/>
                </a:solidFill>
                <a:latin typeface="Microsoft YaHei"/>
              </a:rPr>
              <a:t>power iteration 每次产出 B 的一行；学到的 B 可以公开，反过来帮助后续计算。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4572000"/>
            <a:ext cx="5212080" cy="7315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350" b="0">
                <a:solidFill>
                  <a:srgbClr val="1C212A"/>
                </a:solidFill>
                <a:latin typeface="Microsoft YaHei"/>
              </a:rPr>
              <a:t>• 固定点数值中每轮重正交化，避免已找到方向污染下一主方向。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C6575"/>
                </a:solidFill>
                <a:latin typeface="Microsoft YaHei"/>
              </a:rPr>
              <a:t>Source: Fig. 4 and Section 5.1, Nudge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算法步骤拆解：每个主方向都经历“随机起点 → 反复拉伸 → 归一化”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Matrix factorization via power iteration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14884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1C212A"/>
                </a:solidFill>
                <a:latin typeface="Microsoft YaHei"/>
              </a:rPr>
              <a:t>① 初始化</a:t>
            </a:r>
            <a:br/>
            <a:r>
              <a:rPr sz="1120" b="1">
                <a:solidFill>
                  <a:srgbClr val="1C212A"/>
                </a:solidFill>
                <a:latin typeface="Microsoft YaHei"/>
              </a:rPr>
              <a:t>B 置零；为第 i 行随机采样 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234440"/>
            <a:ext cx="214884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1C212A"/>
                </a:solidFill>
                <a:latin typeface="Microsoft YaHei"/>
              </a:rPr>
              <a:t>② 正交化</a:t>
            </a:r>
            <a:br/>
            <a:r>
              <a:rPr sz="1120" b="1">
                <a:solidFill>
                  <a:srgbClr val="1C212A"/>
                </a:solidFill>
                <a:latin typeface="Microsoft YaHei"/>
              </a:rPr>
              <a:t>v ← SetOrthogonal(v, 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234440"/>
            <a:ext cx="2148840" cy="960120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1C212A"/>
                </a:solidFill>
                <a:latin typeface="Microsoft YaHei"/>
              </a:rPr>
              <a:t>③ 幂迭代</a:t>
            </a:r>
            <a:br/>
            <a:r>
              <a:rPr sz="1120" b="1">
                <a:solidFill>
                  <a:srgbClr val="1C212A"/>
                </a:solidFill>
                <a:latin typeface="Microsoft YaHei"/>
              </a:rPr>
              <a:t>v ← Uᵀ(Uv)，沿最大特征方向被拉伸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234440"/>
            <a:ext cx="214884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1C212A"/>
                </a:solidFill>
                <a:latin typeface="Microsoft YaHei"/>
              </a:rPr>
              <a:t>④ 截断</a:t>
            </a:r>
            <a:br/>
            <a:r>
              <a:rPr sz="1120" b="1">
                <a:solidFill>
                  <a:srgbClr val="1C212A"/>
                </a:solidFill>
                <a:latin typeface="Microsoft YaHei"/>
              </a:rPr>
              <a:t>固定点乘法后执行 lazy truncation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749039"/>
            <a:ext cx="2148840" cy="960120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1C212A"/>
                </a:solidFill>
                <a:latin typeface="Microsoft YaHei"/>
              </a:rPr>
              <a:t>⑤ 归一化</a:t>
            </a:r>
            <a:br/>
            <a:r>
              <a:rPr sz="1120" b="1">
                <a:solidFill>
                  <a:srgbClr val="1C212A"/>
                </a:solidFill>
                <a:latin typeface="Microsoft YaHei"/>
              </a:rPr>
              <a:t>v ← Normalize(v)，控制溢出/下溢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49039"/>
            <a:ext cx="214884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1C212A"/>
                </a:solidFill>
                <a:latin typeface="Microsoft YaHei"/>
              </a:rPr>
              <a:t>⑥ 写入 B</a:t>
            </a:r>
            <a:br/>
            <a:r>
              <a:rPr sz="1120" b="1">
                <a:solidFill>
                  <a:srgbClr val="1C212A"/>
                </a:solidFill>
                <a:latin typeface="Microsoft YaHei"/>
              </a:rPr>
              <a:t>把 v 作为 B 的第 i 行公开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749039"/>
            <a:ext cx="214884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1C212A"/>
                </a:solidFill>
                <a:latin typeface="Microsoft YaHei"/>
              </a:rPr>
              <a:t>⑦ 得到 A</a:t>
            </a:r>
            <a:br/>
            <a:r>
              <a:rPr sz="1120" b="1">
                <a:solidFill>
                  <a:srgbClr val="1C212A"/>
                </a:solidFill>
                <a:latin typeface="Microsoft YaHei"/>
              </a:rPr>
              <a:t>A ← U·Bᵀ，仍为 secret-shared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1709928"/>
            <a:ext cx="502920" cy="0"/>
          </a:xfrm>
          <a:prstGeom prst="line">
            <a:avLst/>
          </a:prstGeom>
          <a:ln w="20320"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1709928"/>
            <a:ext cx="502920" cy="0"/>
          </a:xfrm>
          <a:prstGeom prst="line">
            <a:avLst/>
          </a:prstGeom>
          <a:ln w="20320"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92440" y="1709928"/>
            <a:ext cx="502920" cy="0"/>
          </a:xfrm>
          <a:prstGeom prst="line">
            <a:avLst/>
          </a:prstGeom>
          <a:ln w="20320"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063240" y="2194560"/>
            <a:ext cx="6583680" cy="1554479"/>
          </a:xfrm>
          <a:prstGeom prst="line">
            <a:avLst/>
          </a:prstGeom>
          <a:ln w="20320"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60520" y="4233672"/>
            <a:ext cx="594360" cy="0"/>
          </a:xfrm>
          <a:prstGeom prst="line">
            <a:avLst/>
          </a:prstGeom>
          <a:ln w="20320"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03720" y="4233672"/>
            <a:ext cx="594359" cy="0"/>
          </a:xfrm>
          <a:prstGeom prst="line">
            <a:avLst/>
          </a:prstGeom>
          <a:ln w="20320"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5623560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2A5CAA"/>
                </a:solidFill>
                <a:latin typeface="Microsoft YaHei"/>
              </a:rPr>
              <a:t>循环结构：外层重复 d 次得到 d 个 embedding 方向；内层重复 ℓ 次让 v 收敛到当前最大特征方向。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如何把算法放进 3PC：线性步骤本地快跑，非线性步骤低通信交互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From algorithm to secure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926080" cy="1005840"/>
          </a:xfrm>
          <a:prstGeom prst="roundRect">
            <a:avLst/>
          </a:prstGeom>
          <a:solidFill>
            <a:srgbClr val="E2F2EB"/>
          </a:solidFill>
          <a:ln w="12700">
            <a:solidFill>
              <a:srgbClr val="26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Mul(U, v)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Mul(Uᵀ, ·)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325880"/>
            <a:ext cx="2926080" cy="1005840"/>
          </a:xfrm>
          <a:prstGeom prst="roundRect">
            <a:avLst/>
          </a:prstGeom>
          <a:solidFill>
            <a:srgbClr val="FAF0DC"/>
          </a:solidFill>
          <a:ln w="12700">
            <a:solidFill>
              <a:srgbClr val="A47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Truncate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固定点缩放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25880"/>
            <a:ext cx="2926080" cy="1005840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Normalize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L2 归一化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1828800"/>
            <a:ext cx="960120" cy="0"/>
          </a:xfrm>
          <a:prstGeom prst="line">
            <a:avLst/>
          </a:prstGeom>
          <a:ln w="20320"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43800" y="1828800"/>
            <a:ext cx="960120" cy="0"/>
          </a:xfrm>
          <a:prstGeom prst="line">
            <a:avLst/>
          </a:prstGeom>
          <a:ln w="20320"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971800"/>
            <a:ext cx="2788920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280" b="0">
                <a:solidFill>
                  <a:srgbClr val="1C212A"/>
                </a:solidFill>
                <a:latin typeface="Microsoft YaHei"/>
              </a:rPr>
              <a:t>• RSS：三方持有 replicated shares</a:t>
            </a:r>
          </a:p>
          <a:p>
            <a:pPr>
              <a:lnSpc>
                <a:spcPct val="108000"/>
              </a:lnSpc>
            </a:pPr>
            <a:r>
              <a:rPr sz="1280" b="0">
                <a:solidFill>
                  <a:srgbClr val="1C212A"/>
                </a:solidFill>
                <a:latin typeface="Microsoft YaHei"/>
              </a:rPr>
              <a:t>• 矩阵-向量乘可非交互完成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71800"/>
            <a:ext cx="2788920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280" b="0">
                <a:solidFill>
                  <a:srgbClr val="1C212A"/>
                </a:solidFill>
                <a:latin typeface="Microsoft YaHei"/>
              </a:rPr>
              <a:t>• 乘法后恢复 fixed-point 格式</a:t>
            </a:r>
          </a:p>
          <a:p>
            <a:pPr>
              <a:lnSpc>
                <a:spcPct val="108000"/>
              </a:lnSpc>
            </a:pPr>
            <a:r>
              <a:rPr sz="1280" b="0">
                <a:solidFill>
                  <a:srgbClr val="1C212A"/>
                </a:solidFill>
                <a:latin typeface="Microsoft YaHei"/>
              </a:rPr>
              <a:t>• Nudge 协议比 prior truncation 低约 6× 通信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971800"/>
            <a:ext cx="2788920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280" b="0">
                <a:solidFill>
                  <a:srgbClr val="1C212A"/>
                </a:solidFill>
                <a:latin typeface="Microsoft YaHei"/>
              </a:rPr>
              <a:t>• MSB 给出初始缩放估计</a:t>
            </a:r>
          </a:p>
          <a:p>
            <a:pPr>
              <a:lnSpc>
                <a:spcPct val="108000"/>
              </a:lnSpc>
            </a:pPr>
            <a:r>
              <a:rPr sz="1280" b="0">
                <a:solidFill>
                  <a:srgbClr val="1C212A"/>
                </a:solidFill>
                <a:latin typeface="Microsoft YaHei"/>
              </a:rPr>
              <a:t>• Newton-Raphson 常数轮近似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5989320"/>
            <a:ext cx="11155680" cy="384048"/>
          </a:xfrm>
          <a:prstGeom prst="roundRect">
            <a:avLst/>
          </a:prstGeom>
          <a:solidFill>
            <a:srgbClr val="E2F2EB"/>
          </a:solidFill>
          <a:ln w="12700">
            <a:solidFill>
              <a:srgbClr val="26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C212A"/>
                </a:solidFill>
                <a:latin typeface="Microsoft YaHei"/>
              </a:rPr>
              <a:t>Theorem 5.1：三方可安全计算 A 和 B，通信量随 d、ℓ、m+n 线性主导。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73952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C6575"/>
                </a:solidFill>
                <a:latin typeface="Microsoft YaHei"/>
              </a:rPr>
              <a:t>Source: Theorem 4.2, Lemma 4.3/4.4, Theorem 5.1, Nudge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实验设计覆盖三件事：推荐质量、私密训练成本、扩展规模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Evaluation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246120" cy="1280160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12A"/>
                </a:solidFill>
                <a:latin typeface="Microsoft YaHei"/>
              </a:rPr>
              <a:t>推荐质量</a:t>
            </a:r>
            <a:br/>
            <a:r>
              <a:rPr sz="1400" b="1">
                <a:solidFill>
                  <a:srgbClr val="1C212A"/>
                </a:solidFill>
                <a:latin typeface="Microsoft YaHei"/>
              </a:rPr>
              <a:t>Netflix Prize</a:t>
            </a:r>
            <a:br/>
            <a:r>
              <a:rPr sz="1400" b="1">
                <a:solidFill>
                  <a:srgbClr val="1C212A"/>
                </a:solidFill>
                <a:latin typeface="Microsoft YaHei"/>
              </a:rPr>
              <a:t>Recall@k / nDCG@k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234440"/>
            <a:ext cx="3246120" cy="1280160"/>
          </a:xfrm>
          <a:prstGeom prst="roundRect">
            <a:avLst/>
          </a:prstGeom>
          <a:solidFill>
            <a:srgbClr val="E2F2EB"/>
          </a:solidFill>
          <a:ln w="12700">
            <a:solidFill>
              <a:srgbClr val="26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12A"/>
                </a:solidFill>
                <a:latin typeface="Microsoft YaHei"/>
              </a:rPr>
              <a:t>私密训练成本</a:t>
            </a:r>
            <a:br/>
            <a:r>
              <a:rPr sz="1400" b="1">
                <a:solidFill>
                  <a:srgbClr val="1C212A"/>
                </a:solidFill>
                <a:latin typeface="Microsoft YaHei"/>
              </a:rPr>
              <a:t>MovieLens / Netflix</a:t>
            </a:r>
            <a:br/>
            <a:r>
              <a:rPr sz="1400" b="1">
                <a:solidFill>
                  <a:srgbClr val="1C212A"/>
                </a:solidFill>
                <a:latin typeface="Microsoft YaHei"/>
              </a:rPr>
              <a:t>LAN / WAN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234440"/>
            <a:ext cx="3246120" cy="1280160"/>
          </a:xfrm>
          <a:prstGeom prst="roundRect">
            <a:avLst/>
          </a:prstGeom>
          <a:solidFill>
            <a:srgbClr val="FAF0DC"/>
          </a:solidFill>
          <a:ln w="12700">
            <a:solidFill>
              <a:srgbClr val="A47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12A"/>
                </a:solidFill>
                <a:latin typeface="Microsoft YaHei"/>
              </a:rPr>
              <a:t>规模扩展</a:t>
            </a:r>
            <a:br/>
            <a:r>
              <a:rPr sz="1400" b="1">
                <a:solidFill>
                  <a:srgbClr val="1C212A"/>
                </a:solidFill>
                <a:latin typeface="Microsoft YaHei"/>
              </a:rPr>
              <a:t>Criteo / Yelp / Steam</a:t>
            </a:r>
            <a:br/>
            <a:r>
              <a:rPr sz="1400" b="1">
                <a:solidFill>
                  <a:srgbClr val="1C212A"/>
                </a:solidFill>
                <a:latin typeface="Microsoft YaHei"/>
              </a:rPr>
              <a:t>Pinterest / MIND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5029200" cy="1417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350" b="0">
                <a:solidFill>
                  <a:srgbClr val="1C212A"/>
                </a:solidFill>
                <a:latin typeface="Microsoft YaHei"/>
              </a:rPr>
              <a:t>• 基线：TopPopular、ItemKNN、GraphWalk、ALS、SVD、MultVAE</a:t>
            </a:r>
          </a:p>
          <a:p>
            <a:pPr>
              <a:lnSpc>
                <a:spcPct val="108000"/>
              </a:lnSpc>
            </a:pPr>
            <a:r>
              <a:rPr sz="1350" b="0">
                <a:solidFill>
                  <a:srgbClr val="1C212A"/>
                </a:solidFill>
                <a:latin typeface="Microsoft YaHei"/>
              </a:rPr>
              <a:t>• 测试集：10,000 users；每人 80% rating 训练，20% 作 ground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54680"/>
            <a:ext cx="4846320" cy="1417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350" b="0">
                <a:solidFill>
                  <a:srgbClr val="1C212A"/>
                </a:solidFill>
                <a:latin typeface="Microsoft YaHei"/>
              </a:rPr>
              <a:t>• 主实验机器：3 台 192-core servers</a:t>
            </a:r>
          </a:p>
          <a:p>
            <a:pPr>
              <a:lnSpc>
                <a:spcPct val="108000"/>
              </a:lnSpc>
            </a:pPr>
            <a:r>
              <a:rPr sz="1350" b="0">
                <a:solidFill>
                  <a:srgbClr val="1C212A"/>
                </a:solidFill>
                <a:latin typeface="Microsoft YaHei"/>
              </a:rPr>
              <a:t>• Netflix：463,435 users、17,769 movies、56M ratings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5989320"/>
            <a:ext cx="11155680" cy="384048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C212A"/>
                </a:solidFill>
                <a:latin typeface="Microsoft YaHei"/>
              </a:rPr>
              <a:t>论文不只问“能否安全”，还问“推荐质量是否保住、规模是否接近真实业务”。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推荐质量基本追平明文矩阵分解，只略低于神经推荐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Main result: recommendation quality</a:t>
            </a:r>
          </a:p>
        </p:txBody>
      </p:sp>
      <p:pic>
        <p:nvPicPr>
          <p:cNvPr id="4" name="Picture 3" descr="fig5_recommendation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79" y="1143000"/>
            <a:ext cx="4523361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234440"/>
            <a:ext cx="2148840" cy="914400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C212A"/>
                </a:solidFill>
                <a:latin typeface="Microsoft YaHei"/>
              </a:rPr>
              <a:t>nDCG@20</a:t>
            </a:r>
            <a:br/>
            <a:r>
              <a:rPr sz="1900" b="1">
                <a:solidFill>
                  <a:srgbClr val="1C212A"/>
                </a:solidFill>
                <a:latin typeface="Microsoft YaHei"/>
              </a:rPr>
              <a:t>0.29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234440"/>
            <a:ext cx="2148840" cy="914400"/>
          </a:xfrm>
          <a:prstGeom prst="roundRect">
            <a:avLst/>
          </a:prstGeom>
          <a:solidFill>
            <a:srgbClr val="E2F2EB"/>
          </a:solidFill>
          <a:ln w="12700">
            <a:solidFill>
              <a:srgbClr val="26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C212A"/>
                </a:solidFill>
                <a:latin typeface="Microsoft YaHei"/>
              </a:rPr>
              <a:t>Recall@20</a:t>
            </a:r>
            <a:br/>
            <a:r>
              <a:rPr sz="1900" b="1">
                <a:solidFill>
                  <a:srgbClr val="1C212A"/>
                </a:solidFill>
                <a:latin typeface="Microsoft YaHei"/>
              </a:rPr>
              <a:t>0.23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743200"/>
            <a:ext cx="4617720" cy="1645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C212A"/>
                </a:solidFill>
                <a:latin typeface="Microsoft YaHei"/>
              </a:rPr>
              <a:t>• Nudge 与 ALS / SVD 持平</a:t>
            </a:r>
          </a:p>
          <a:p>
            <a:pPr>
              <a:lnSpc>
                <a:spcPct val="108000"/>
              </a:lnSpc>
            </a:pPr>
            <a:r>
              <a:rPr sz="1500" b="0">
                <a:solidFill>
                  <a:srgbClr val="1C212A"/>
                </a:solidFill>
                <a:latin typeface="Microsoft YaHei"/>
              </a:rPr>
              <a:t>• 优于 TopPopular / ItemKNN / GraphWalk</a:t>
            </a:r>
          </a:p>
          <a:p>
            <a:pPr>
              <a:lnSpc>
                <a:spcPct val="108000"/>
              </a:lnSpc>
            </a:pPr>
            <a:r>
              <a:rPr sz="1500" b="0">
                <a:solidFill>
                  <a:srgbClr val="1C212A"/>
                </a:solidFill>
                <a:latin typeface="Microsoft YaHei"/>
              </a:rPr>
              <a:t>• 距离 MultVAE 约 12%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5989320"/>
            <a:ext cx="11155680" cy="384048"/>
          </a:xfrm>
          <a:prstGeom prst="roundRect">
            <a:avLst/>
          </a:prstGeom>
          <a:solidFill>
            <a:srgbClr val="E2F2EB"/>
          </a:solidFill>
          <a:ln w="12700">
            <a:solidFill>
              <a:srgbClr val="26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C212A"/>
                </a:solidFill>
                <a:latin typeface="Microsoft YaHei"/>
              </a:rPr>
              <a:t>固定点、近似 normalization 和有限轮 power iteration 没有明显损害推荐质量。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73952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C6575"/>
                </a:solidFill>
                <a:latin typeface="Microsoft YaHei"/>
              </a:rPr>
              <a:t>Source: Fig. 5 and Section 7.1, Nudge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私密矩阵分解：Netflix 全量训练 50 分钟，通信 38.9 GB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Main result: private matrix factorization</a:t>
            </a:r>
          </a:p>
        </p:txBody>
      </p:sp>
      <p:pic>
        <p:nvPicPr>
          <p:cNvPr id="4" name="Picture 3" descr="table6_private_mf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61" y="1024128"/>
            <a:ext cx="7277877" cy="3429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4709160"/>
            <a:ext cx="2468880" cy="685800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Netflix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50.2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4709160"/>
            <a:ext cx="2468880" cy="685800"/>
          </a:xfrm>
          <a:prstGeom prst="roundRect">
            <a:avLst/>
          </a:prstGeom>
          <a:solidFill>
            <a:srgbClr val="E2F2EB"/>
          </a:solidFill>
          <a:ln w="12700">
            <a:solidFill>
              <a:srgbClr val="26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server-server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38.9 GB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709160"/>
            <a:ext cx="2468880" cy="685800"/>
          </a:xfrm>
          <a:prstGeom prst="roundRect">
            <a:avLst/>
          </a:prstGeom>
          <a:solidFill>
            <a:srgbClr val="FAF0DC"/>
          </a:solidFill>
          <a:ln w="12700">
            <a:solidFill>
              <a:srgbClr val="A47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MovieLens1M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32.8 sec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4709160"/>
            <a:ext cx="2468880" cy="685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WAN Netflix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1h13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5989320"/>
            <a:ext cx="11155680" cy="384048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C212A"/>
                </a:solidFill>
                <a:latin typeface="Microsoft YaHei"/>
              </a:rPr>
              <a:t>相比 prior private recommender，Nudge 的通信和计算下降多个数量级；代价是需要 3 台不串谋服务器。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C6575"/>
                </a:solidFill>
                <a:latin typeface="Microsoft YaHei"/>
              </a:rPr>
              <a:t>Source: Table 6 and Section 7.2, Nudge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规模扩展：Nudge 可处理百万用户或十万级 item 的矩阵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Scaling to larger datasets</a:t>
            </a:r>
          </a:p>
        </p:txBody>
      </p:sp>
      <p:pic>
        <p:nvPicPr>
          <p:cNvPr id="4" name="Picture 3" descr="fig7_scal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2021"/>
            <a:ext cx="6629400" cy="28794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234440"/>
            <a:ext cx="4160520" cy="2240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250" b="0">
                <a:solidFill>
                  <a:srgbClr val="1C212A"/>
                </a:solidFill>
                <a:latin typeface="Microsoft YaHei"/>
              </a:rPr>
              <a:t>• Criteo：6.1M users / 700 ads，1.5 h，125 GB</a:t>
            </a:r>
          </a:p>
          <a:p>
            <a:pPr>
              <a:lnSpc>
                <a:spcPct val="108000"/>
              </a:lnSpc>
            </a:pPr>
            <a:r>
              <a:rPr sz="1250" b="0">
                <a:solidFill>
                  <a:srgbClr val="1C212A"/>
                </a:solidFill>
                <a:latin typeface="Microsoft YaHei"/>
              </a:rPr>
              <a:t>• Yelp：279K users / 148K businesses，8 h，248 GB</a:t>
            </a:r>
          </a:p>
          <a:p>
            <a:pPr>
              <a:lnSpc>
                <a:spcPct val="108000"/>
              </a:lnSpc>
            </a:pPr>
            <a:r>
              <a:rPr sz="1250" b="0">
                <a:solidFill>
                  <a:srgbClr val="1C212A"/>
                </a:solidFill>
                <a:latin typeface="Microsoft YaHei"/>
              </a:rPr>
              <a:t>• Steam：2.5M users / 15K games，4.7 h，78 GB</a:t>
            </a:r>
          </a:p>
          <a:p>
            <a:pPr>
              <a:lnSpc>
                <a:spcPct val="108000"/>
              </a:lnSpc>
            </a:pPr>
            <a:r>
              <a:rPr sz="1250" b="0">
                <a:solidFill>
                  <a:srgbClr val="1C212A"/>
                </a:solidFill>
                <a:latin typeface="Microsoft YaHei"/>
              </a:rPr>
              <a:t>• Microsoft News：50K users / 160K articles，3 h，263 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607040" cy="7315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理论趋势：计算约 O(mn)，通信约 O(m+n)；实际通信在 n 足够大时主要被 item 数支配。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C6575"/>
                </a:solidFill>
                <a:latin typeface="Microsoft YaHei"/>
              </a:rPr>
              <a:t>Source: Fig. 7 and Section 7.3, Nudge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端到端成本显示：训练贵，但在线推荐可以做到秒级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Serving recommendations and extensions</a:t>
            </a:r>
          </a:p>
        </p:txBody>
      </p:sp>
      <p:pic>
        <p:nvPicPr>
          <p:cNvPr id="4" name="Picture 3" descr="table8_end_to_end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08" y="1115568"/>
            <a:ext cx="4413183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72200" y="1234440"/>
            <a:ext cx="2331720" cy="74980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12A"/>
                </a:solidFill>
                <a:latin typeface="Microsoft YaHei"/>
              </a:rPr>
              <a:t>Logging</a:t>
            </a:r>
            <a:br/>
            <a:r>
              <a:rPr sz="1400" b="1">
                <a:solidFill>
                  <a:srgbClr val="1C212A"/>
                </a:solidFill>
                <a:latin typeface="Microsoft YaHei"/>
              </a:rPr>
              <a:t>694 bytes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234440"/>
            <a:ext cx="2331720" cy="749808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12A"/>
                </a:solidFill>
                <a:latin typeface="Microsoft YaHei"/>
              </a:rPr>
              <a:t>Fetch</a:t>
            </a:r>
            <a:br/>
            <a:r>
              <a:rPr sz="1400" b="1">
                <a:solidFill>
                  <a:srgbClr val="1C212A"/>
                </a:solidFill>
                <a:latin typeface="Microsoft YaHei"/>
              </a:rPr>
              <a:t>298 KB / 0.38s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514600"/>
            <a:ext cx="4800600" cy="1417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C212A"/>
                </a:solidFill>
                <a:latin typeface="Microsoft YaHei"/>
              </a:rPr>
              <a:t>• 在线阶段：每个用户下载 secret-shared recommendation scores</a:t>
            </a:r>
          </a:p>
          <a:p>
            <a:pPr>
              <a:lnSpc>
                <a:spcPct val="108000"/>
              </a:lnSpc>
            </a:pPr>
            <a:r>
              <a:rPr sz="1300" b="0">
                <a:solidFill>
                  <a:srgbClr val="1C212A"/>
                </a:solidFill>
                <a:latin typeface="Microsoft YaHei"/>
              </a:rPr>
              <a:t>• 服务器吞吐：logging &gt;270 q/s；fetch &gt;110 q/s</a:t>
            </a:r>
          </a:p>
          <a:p>
            <a:pPr>
              <a:lnSpc>
                <a:spcPct val="108000"/>
              </a:lnSpc>
            </a:pPr>
            <a:r>
              <a:rPr sz="1300" b="0">
                <a:solidFill>
                  <a:srgbClr val="1C212A"/>
                </a:solidFill>
                <a:latin typeface="Microsoft YaHei"/>
              </a:rPr>
              <a:t>• well-formedness check：Netflix 上 7.7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698480" cy="6858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扩展：random projection 降维、差分隐私保护模型输出、输入合法性检查防止恶意用户刷影响力。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73952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C6575"/>
                </a:solidFill>
                <a:latin typeface="Microsoft YaHei"/>
              </a:rPr>
              <a:t>Source: Table 8, Sections 8-9, Nudge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局限性很明确：三服务器、半诚实、不覆盖私密取内容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Limitations and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063240" cy="1097280"/>
          </a:xfrm>
          <a:prstGeom prst="roundRect">
            <a:avLst/>
          </a:prstGeom>
          <a:solidFill>
            <a:srgbClr val="FAF0DC"/>
          </a:solidFill>
          <a:ln w="12700">
            <a:solidFill>
              <a:srgbClr val="A47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需要 3 台服务器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且最多攻陷 1 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234440"/>
            <a:ext cx="3063240" cy="1097280"/>
          </a:xfrm>
          <a:prstGeom prst="roundRect">
            <a:avLst/>
          </a:prstGeom>
          <a:solidFill>
            <a:srgbClr val="F9E2E2"/>
          </a:solidFill>
          <a:ln w="12700">
            <a:solidFill>
              <a:srgbClr val="A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只证明半诚实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不防恶意偏离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234440"/>
            <a:ext cx="306324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推荐模型本身</a:t>
            </a:r>
            <a:br/>
            <a:r>
              <a:rPr sz="1500" b="1">
                <a:solidFill>
                  <a:srgbClr val="1C212A"/>
                </a:solidFill>
                <a:latin typeface="Microsoft YaHei"/>
              </a:rPr>
              <a:t>仍可能泄露聚合信息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800600" cy="1417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用户私密获取 item 不是本文目标</a:t>
            </a: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需要结合 PIR、Tor、Private Relay 等系统</a:t>
            </a: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服务器仍知道用户何时发送消息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08960"/>
            <a:ext cx="4754880" cy="1417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开放问题：恶意安全</a:t>
            </a: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开放问题：更多方且容忍多方被攻陷</a:t>
            </a:r>
          </a:p>
          <a:p>
            <a:pPr>
              <a:lnSpc>
                <a:spcPct val="108000"/>
              </a:lnSpc>
            </a:pPr>
            <a:r>
              <a:rPr sz="1400" b="0">
                <a:solidFill>
                  <a:srgbClr val="1C212A"/>
                </a:solidFill>
                <a:latin typeface="Microsoft YaHei"/>
              </a:rPr>
              <a:t>• 开放问题：2-server 且不损害性能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5989320"/>
            <a:ext cx="11155680" cy="384048"/>
          </a:xfrm>
          <a:prstGeom prst="roundRect">
            <a:avLst/>
          </a:prstGeom>
          <a:solidFill>
            <a:srgbClr val="F9E2E2"/>
          </a:solidFill>
          <a:ln w="12700">
            <a:solidFill>
              <a:srgbClr val="A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C212A"/>
                </a:solidFill>
                <a:latin typeface="Microsoft YaHei"/>
              </a:rPr>
              <a:t>Nudge 解决的是“私密训练与私密返回推荐”，不是完整匿名内容平台。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C6575"/>
                </a:solidFill>
                <a:latin typeface="Microsoft YaHei"/>
              </a:rPr>
              <a:t>Source: Limitations, Ethical Considerations, Conclusion, Nudge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C212A"/>
                </a:solidFill>
                <a:latin typeface="Microsoft YaHei"/>
              </a:rPr>
              <a:t>三句话总结：Nudge 的贡献是算法—密码协议协同设计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575"/>
                </a:solidFill>
                <a:latin typeface="Microsoft YaHei"/>
              </a:rPr>
              <a:t>Take-home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C212A"/>
                </a:solidFill>
                <a:latin typeface="Microsoft YaHei"/>
              </a:rPr>
              <a:t>1. 隐私目标清楚：服务器只看到聚合模型，不看到单个用户偏好。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42416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2A5CAA"/>
                </a:solidFill>
                <a:latin typeface="Microsoft YaHei"/>
              </a:rPr>
              <a:t>2. 技术路线聪明：power iteration 天然适合“矩阵乘 + 简单非线性”的 3PC。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42416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267A5C"/>
                </a:solidFill>
                <a:latin typeface="Microsoft YaHei"/>
              </a:rPr>
              <a:t>3. 实验结果扎实：Netflix 50 min / 38.9 GB，质量接近明文矩阵分解。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92040"/>
            <a:ext cx="10149840" cy="822960"/>
          </a:xfrm>
          <a:prstGeom prst="roundRect">
            <a:avLst/>
          </a:prstGeom>
          <a:solidFill>
            <a:srgbClr val="E3EDFB"/>
          </a:solidFill>
          <a:ln w="1270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12A"/>
                </a:solidFill>
                <a:latin typeface="Microsoft YaHei"/>
              </a:rPr>
              <a:t>适合汇报时的落点：Nudge 不是最便宜的推荐系统，而是少数能把密码学隐私推到真实推荐规模的系统。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