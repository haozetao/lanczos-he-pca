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384048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4400" b="1">
                <a:solidFill>
                  <a:srgbClr val="C00000"/>
                </a:solidFill>
                <a:latin typeface="Arial"/>
              </a:rPr>
              <a:t>Nudge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331720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002060"/>
                </a:solidFill>
                <a:latin typeface="Arial"/>
              </a:rPr>
              <a:t>A Private Recommendations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44368"/>
            <a:ext cx="82296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1C2028"/>
                </a:solidFill>
                <a:latin typeface="Arial"/>
              </a:rPr>
              <a:t>Henzinger · Dauterman · Corrigan-Gibbs · Boneh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713232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微软雅黑"/>
              </a:rPr>
              <a:t>论文汇报：三方 MPC 下的大规模私有推荐系统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417320" cy="29260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Recommendation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577840"/>
            <a:ext cx="685800" cy="29260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3PC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577840"/>
            <a:ext cx="1783080" cy="29260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Function Secret Sharing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577840"/>
            <a:ext cx="1325880" cy="29260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Power Iteration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246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7510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核心问题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9152"/>
            <a:ext cx="291693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如何在不泄露用户评分的情况下训练推荐模型？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如何让密码学私有推荐扩展到 Netflix 量级？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一、研究背景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为什么需要 Nudge？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82880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7510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推荐系统的隐私矛盾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2916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点击、浏览、评分等交互数据高度敏感，却正是个性化推荐的燃料。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06324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954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现有方案的不足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2"/>
            <a:ext cx="2916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匿名、联邦学习、TEE、传统 MPC 都在泄露面、信任假设或规模上受限。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29768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4398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2E7D50"/>
                </a:solidFill>
                <a:latin typeface="微软雅黑"/>
              </a:rPr>
              <a:t>Nudge 的目标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28032"/>
            <a:ext cx="2916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在强密码学隐私下，仍能训练有用的推荐模型并支撑大规模数据。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828800"/>
            <a:ext cx="6080760" cy="3429000"/>
          </a:xfrm>
          <a:prstGeom prst="roundRect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121408"/>
            <a:ext cx="2926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论文给出的关键结果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670048"/>
            <a:ext cx="5257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Netflix：463,435 用户、17,769 电影、56M ratings</a:t>
            </a:r>
          </a:p>
          <a:p>
            <a:pPr marL="285750" indent="-171450"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三台 192-core 服务器，LAN 下 50 min 完成私有训练</a:t>
            </a:r>
          </a:p>
          <a:p>
            <a:pPr marL="285750" indent="-171450"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server-to-server 通信约 40 GB</a:t>
            </a:r>
          </a:p>
          <a:p>
            <a:pPr marL="285750" indent="-171450"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nDCG@20 = 0.29，接近明文矩阵分解，与神经方法 0.31 相近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800600"/>
            <a:ext cx="52120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2B192"/>
                </a:solidFill>
                <a:latin typeface="微软雅黑"/>
              </a:rPr>
              <a:t>一句话：不是追求最复杂模型，而是让“可扩展的私有推荐”第一次变得现实。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二、系统设计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系统总览：三服务器拆分信任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03</a:t>
            </a:r>
          </a:p>
        </p:txBody>
      </p:sp>
      <p:pic>
        <p:nvPicPr>
          <p:cNvPr id="12" name="Picture 11" descr="paper-fig1-protocol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0"/>
            <a:ext cx="4023360" cy="31473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26280"/>
            <a:ext cx="4023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微软雅黑"/>
              </a:rPr>
              <a:t>论文 Figure 1：Nudge 协议流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1828800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810512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C2028"/>
                </a:solidFill>
                <a:latin typeface="Arial"/>
              </a:rPr>
              <a:t>Private data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76272"/>
            <a:ext cx="484632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微软雅黑"/>
              </a:rPr>
              <a:t>用户把评分向量 secret-share 后分别发给三台服务器。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0" y="2971800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953512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C2028"/>
                </a:solidFill>
                <a:latin typeface="Arial"/>
              </a:rPr>
              <a:t>Private matrix factorization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319272"/>
            <a:ext cx="484632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微软雅黑"/>
              </a:rPr>
              <a:t>服务器在 3PC 中训练 user embeddings A 与 item embeddings B。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0" y="4114800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96512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C2028"/>
                </a:solidFill>
                <a:latin typeface="Arial"/>
              </a:rPr>
              <a:t>Private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462272"/>
            <a:ext cx="484632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微软雅黑"/>
              </a:rPr>
              <a:t>服务器返回推荐分数的 share，用户本地重构推荐列表。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5257800"/>
            <a:ext cx="5166360" cy="68580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5404104"/>
            <a:ext cx="48371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与联邦学习不同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5788152"/>
            <a:ext cx="483717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用户不参与多轮训练；训练过程也不泄露中间模型版本。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二、系统设计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威胁模型：强隐私，但不是万能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04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063240" y="2194560"/>
            <a:ext cx="228600" cy="1325880"/>
          </a:xfrm>
          <a:prstGeom prst="line">
            <a:avLst/>
          </a:prstGeom>
          <a:ln w="1905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63240" y="1965960"/>
            <a:ext cx="566928" cy="566928"/>
          </a:xfrm>
          <a:prstGeom prst="ellipse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11680" y="3520440"/>
            <a:ext cx="1051560" cy="1051560"/>
          </a:xfrm>
          <a:prstGeom prst="line">
            <a:avLst/>
          </a:prstGeom>
          <a:ln w="1905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83080" y="4343400"/>
            <a:ext cx="566928" cy="566928"/>
          </a:xfrm>
          <a:prstGeom prst="ellipse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520440"/>
            <a:ext cx="1508760" cy="1051560"/>
          </a:xfrm>
          <a:prstGeom prst="line">
            <a:avLst/>
          </a:prstGeom>
          <a:ln w="1905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43400" y="4343400"/>
            <a:ext cx="566928" cy="566928"/>
          </a:xfrm>
          <a:prstGeom prst="ellipse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8" name="Oval 17"/>
          <p:cNvSpPr/>
          <p:nvPr/>
        </p:nvSpPr>
        <p:spPr>
          <a:xfrm>
            <a:off x="2560320" y="3017520"/>
            <a:ext cx="1005840" cy="100584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2-out-of-3
sharing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975104"/>
            <a:ext cx="41513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2E7D50"/>
                </a:solidFill>
                <a:latin typeface="微软雅黑"/>
              </a:rPr>
              <a:t>保护对象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59152"/>
            <a:ext cx="41513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隐藏用户评分矩阵 U 的位置和值；其他用户也看不到单个用户行为。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71800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118104"/>
            <a:ext cx="41513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D29728"/>
                </a:solidFill>
                <a:latin typeface="微软雅黑"/>
              </a:rPr>
              <a:t>允许泄露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502152"/>
            <a:ext cx="41513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最终聚合模型 B 所编码的信息；每个用户提交了多少个非零评分。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261104"/>
            <a:ext cx="41513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不保护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645152"/>
            <a:ext cx="41513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两台及以上服务器串谋；恶意服务器偏离协议；时间等元数据。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6235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Arial"/>
              </a:rPr>
              <a:t>安全目标：against one honest-but-curious server colluding with malicious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三、算法直觉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矩阵分解直觉：把评分矩阵压成低秩表示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微软雅黑"/>
              </a:rPr>
              <a:t>用户 × 物品评分矩阵 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28600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6424" y="228600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44168" y="228600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81912" y="228600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19656" y="228600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228600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95144" y="228600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32888" y="228600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70632" y="228600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08376" y="228600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248716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6424" y="248716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44168" y="248716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81912" y="248716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19656" y="248716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57400" y="248716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95144" y="248716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32888" y="248716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70632" y="248716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08376" y="248716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268833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6424" y="268833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44168" y="268833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81912" y="268833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19656" y="268833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57400" y="268833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95144" y="268833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32888" y="268833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70632" y="268833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08376" y="268833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" y="2889504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06424" y="2889504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44168" y="2889504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81912" y="2889504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19656" y="2889504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57400" y="2889504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95144" y="2889504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32888" y="2889504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70632" y="2889504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08376" y="2889504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8680" y="3090672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06424" y="3090672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344168" y="3090672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81912" y="3090672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19656" y="3090672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57400" y="3090672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95144" y="3090672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32888" y="3090672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70632" y="3090672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08376" y="3090672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680" y="329184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06424" y="329184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44168" y="329184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81912" y="329184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19656" y="3291840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57400" y="329184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95144" y="329184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32888" y="329184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70632" y="329184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08376" y="3291840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8680" y="349300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06424" y="349300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44168" y="349300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581912" y="349300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19656" y="349300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57400" y="349300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95144" y="349300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532888" y="3493008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70632" y="349300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008376" y="3493008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8680" y="369417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06424" y="369417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344168" y="369417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581912" y="369417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19656" y="369417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057400" y="3694176"/>
            <a:ext cx="192024" cy="146304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95144" y="369417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532888" y="369417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770632" y="369417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08376" y="3694176"/>
            <a:ext cx="192024" cy="146304"/>
          </a:xfrm>
          <a:prstGeom prst="rect">
            <a:avLst/>
          </a:prstGeom>
          <a:solidFill>
            <a:srgbClr val="6BA2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2788920"/>
            <a:ext cx="32004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C00000"/>
                </a:solidFill>
                <a:latin typeface="微软雅黑"/>
              </a:rPr>
              <a:t>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251960" y="2240280"/>
            <a:ext cx="1645920" cy="201168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16552" y="2386584"/>
            <a:ext cx="13167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16552" y="2770632"/>
            <a:ext cx="131673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用户嵌入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m × 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3640" y="2788920"/>
            <a:ext cx="32004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×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903720" y="2377440"/>
            <a:ext cx="3063240" cy="160020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68312" y="2523744"/>
            <a:ext cx="27340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68312" y="2907792"/>
            <a:ext cx="27340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物品嵌入 / 推荐模型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d × n，行正交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68680" y="4983480"/>
            <a:ext cx="950976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3271" y="5129784"/>
            <a:ext cx="91805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服务阶段怎么推荐？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3271" y="5513832"/>
            <a:ext cx="91805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对用户 i，推荐分数等价于 u(i) · BᵀB；选择分数最高且用户未看过的物品。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" y="5925312"/>
            <a:ext cx="9692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</a:rPr>
              <a:t>Nudge 的隐私边界也在这里：服务器最终学习到的是聚合模型 B，而不是单个用户的评分向量。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四、核心算法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算法步骤：Power Iteration 做私有矩阵分解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06</a:t>
            </a:r>
          </a:p>
        </p:txBody>
      </p:sp>
      <p:pic>
        <p:nvPicPr>
          <p:cNvPr id="12" name="Picture 11" descr="paper-fig4-power-it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0"/>
            <a:ext cx="4251960" cy="34541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4251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微软雅黑"/>
              </a:rPr>
              <a:t>论文 Figure 4：ApproxFactor(U)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0" y="1783080"/>
            <a:ext cx="347472" cy="34747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64792"/>
            <a:ext cx="4206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C2028"/>
                </a:solidFill>
                <a:latin typeface="微软雅黑"/>
              </a:rPr>
              <a:t>初始化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57400"/>
            <a:ext cx="457200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微软雅黑"/>
              </a:rPr>
              <a:t>B 置零；对第 i 个 latent factor 随机初始化向量 v。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1576" y="2185416"/>
            <a:ext cx="0" cy="292608"/>
          </a:xfrm>
          <a:prstGeom prst="line">
            <a:avLst/>
          </a:prstGeom>
          <a:ln w="1270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77840" y="2587752"/>
            <a:ext cx="347472" cy="34747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569464"/>
            <a:ext cx="4206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C2028"/>
                </a:solidFill>
                <a:latin typeface="微软雅黑"/>
              </a:rPr>
              <a:t>正交化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862072"/>
            <a:ext cx="457200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微软雅黑"/>
              </a:rPr>
              <a:t>SetOrthogonal(v, B)：从 v 中移除已求方向分量。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51576" y="2990088"/>
            <a:ext cx="0" cy="292608"/>
          </a:xfrm>
          <a:prstGeom prst="line">
            <a:avLst/>
          </a:prstGeom>
          <a:ln w="1270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77840" y="3392424"/>
            <a:ext cx="347472" cy="34747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374136"/>
            <a:ext cx="4206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C2028"/>
                </a:solidFill>
                <a:latin typeface="微软雅黑"/>
              </a:rPr>
              <a:t>幂迭代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666744"/>
            <a:ext cx="457200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微软雅黑"/>
              </a:rPr>
              <a:t>重复 ℓ 次：v ← Uᵀ(Uv)，然后正交化并归一化。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51576" y="3794760"/>
            <a:ext cx="0" cy="292608"/>
          </a:xfrm>
          <a:prstGeom prst="line">
            <a:avLst/>
          </a:prstGeom>
          <a:ln w="1270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577840" y="4197096"/>
            <a:ext cx="347472" cy="34747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178808"/>
            <a:ext cx="4206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C2028"/>
                </a:solidFill>
                <a:latin typeface="微软雅黑"/>
              </a:rPr>
              <a:t>写入模型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471416"/>
            <a:ext cx="457200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微软雅黑"/>
              </a:rPr>
              <a:t>将收敛后的 v 作为 B 的第 i 行；继续提取下一个因子。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51576" y="4599432"/>
            <a:ext cx="0" cy="292608"/>
          </a:xfrm>
          <a:prstGeom prst="line">
            <a:avLst/>
          </a:prstGeom>
          <a:ln w="12700">
            <a:solidFill>
              <a:srgbClr val="D2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577840" y="5001768"/>
            <a:ext cx="347472" cy="34747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983480"/>
            <a:ext cx="4206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C2028"/>
                </a:solidFill>
                <a:latin typeface="微软雅黑"/>
              </a:rPr>
              <a:t>线性恢复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276088"/>
            <a:ext cx="457200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微软雅黑"/>
              </a:rPr>
              <a:t>最后计算 A := U·Bᵀ；推荐分数来自 A·B。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四、核心算法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为什么这个算法适合 3PC？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75104"/>
            <a:ext cx="24140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线性大块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359152"/>
            <a:ext cx="241401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矩阵-向量乘法：U·v、Uᵀ·v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Replicated secret sharing 可非交互高速完成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大矩阵计算主成本接近明文 3×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" y="3200400"/>
            <a:ext cx="73152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2628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975104"/>
            <a:ext cx="24140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非线性小块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359152"/>
            <a:ext cx="241401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Truncₜ：固定点乘法后的截断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Normalize：计算 1/||v||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这些是通信和轮数的关键瓶颈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3200400"/>
            <a:ext cx="73152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20" y="1828800"/>
            <a:ext cx="2926080" cy="2743200"/>
          </a:xfrm>
          <a:prstGeom prst="roundRect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05740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Nudge 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51460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FSS 处理比较 / 最高有效位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截断通信降低约 6×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归一化用 Newton-Raphson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257800"/>
            <a:ext cx="9692640" cy="68580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5404104"/>
            <a:ext cx="93634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核心 co-design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788152"/>
            <a:ext cx="936345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把算法写成“矩阵-向量程序”：大规模线性代数尽量不通信，只在必要的非线性函数上支付 3PC 成本。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五、性能分析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复杂度叙事：通信从“跟评分数走”变成“跟用户+物品走”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43891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1C2028"/>
                </a:solidFill>
                <a:latin typeface="微软雅黑"/>
              </a:rPr>
              <a:t>固定 embedding 维度 d 时：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23160"/>
            <a:ext cx="4023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569464"/>
            <a:ext cx="36941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953512"/>
            <a:ext cx="3694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O(mn)：密态/secret-shared 矩阵看不到稀疏结构，必须按密集矩阵处理。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77639"/>
            <a:ext cx="4023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23944"/>
            <a:ext cx="369417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507992"/>
            <a:ext cx="3694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O(m+n)：通信不随评分数线性增长，这是相比许多 prior systems 的关键优势。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1C2028"/>
                </a:solidFill>
                <a:latin typeface="微软雅黑"/>
              </a:rPr>
              <a:t>通信量级直觉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50592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C2028"/>
                </a:solidFill>
                <a:latin typeface="微软雅黑"/>
              </a:rPr>
              <a:t>传统私有 MF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743200"/>
            <a:ext cx="3840480" cy="274320"/>
          </a:xfrm>
          <a:prstGeom prst="roundRect">
            <a:avLst/>
          </a:prstGeom>
          <a:solidFill>
            <a:srgbClr val="EAEFF7"/>
          </a:solidFill>
          <a:ln>
            <a:solidFill>
              <a:srgbClr val="EA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2743200"/>
            <a:ext cx="3533241" cy="2743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1828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C2028"/>
                </a:solidFill>
                <a:latin typeface="微软雅黑"/>
              </a:rPr>
              <a:t>Nudge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886200"/>
            <a:ext cx="3840480" cy="274320"/>
          </a:xfrm>
          <a:prstGeom prst="roundRect">
            <a:avLst/>
          </a:prstGeom>
          <a:solidFill>
            <a:srgbClr val="EAEFF7"/>
          </a:solidFill>
          <a:ln>
            <a:solidFill>
              <a:srgbClr val="EA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0760" y="3886200"/>
            <a:ext cx="691286" cy="27432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5074920"/>
            <a:ext cx="4343400" cy="749808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5221224"/>
            <a:ext cx="4014215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瓶颈仍在计算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605272"/>
            <a:ext cx="4014215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当用户和物品都极大时，Nudge 需要随机投影等降维扩展来突破 O(mn)。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六、实验结果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推荐质量：接近明文矩阵分解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09</a:t>
            </a:r>
          </a:p>
        </p:txBody>
      </p:sp>
      <p:pic>
        <p:nvPicPr>
          <p:cNvPr id="12" name="Picture 11" descr="paper-fig5-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0"/>
            <a:ext cx="4983480" cy="3509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92040"/>
            <a:ext cx="4983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微软雅黑"/>
              </a:rPr>
              <a:t>论文 Figure 5：Netflix 上 Recall / nDCG 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38528"/>
            <a:ext cx="3749039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21408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Nudge nDCG@20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048256"/>
            <a:ext cx="6400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2000" b="1">
                <a:solidFill>
                  <a:srgbClr val="002060"/>
                </a:solidFill>
                <a:latin typeface="Arial"/>
              </a:rPr>
              <a:t>0.29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07208"/>
            <a:ext cx="3749039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990088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MultVAE nDCG@20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916936"/>
            <a:ext cx="6400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2000" b="1">
                <a:solidFill>
                  <a:srgbClr val="C00000"/>
                </a:solidFill>
                <a:latin typeface="Arial"/>
              </a:rPr>
              <a:t>0.31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75888"/>
            <a:ext cx="3749039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858768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Nudge Recall@20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785616"/>
            <a:ext cx="6400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2000" b="1">
                <a:solidFill>
                  <a:srgbClr val="2E7D50"/>
                </a:solidFill>
                <a:latin typeface="Arial"/>
              </a:rPr>
              <a:t>0.23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17720"/>
            <a:ext cx="3749039" cy="86868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764024"/>
            <a:ext cx="34198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实验结论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148072"/>
            <a:ext cx="341985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固定步数幂迭代、固定点算术、延迟截断与近似归一化，并没有显著伤害推荐质量。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六、实验结果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性能：私有矩阵分解从“天/小时”压到“秒/分钟”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10</a:t>
            </a:r>
          </a:p>
        </p:txBody>
      </p:sp>
      <p:pic>
        <p:nvPicPr>
          <p:cNvPr id="12" name="Picture 11" descr="paper-table6-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83080"/>
            <a:ext cx="10698480" cy="56033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160520"/>
            <a:ext cx="10698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微软雅黑"/>
              </a:rPr>
              <a:t>论文 Table 6：与 prior private matrix factorization / MP-SPDZ baseline 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3659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882896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MovieLens100K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5266944"/>
            <a:ext cx="2916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10.7 sec LAN / 51.8 sec WAN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server-to-server: 0.5 GB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73659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4882896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MovieLens1M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5266944"/>
            <a:ext cx="2916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32.8 sec LAN / 1.8 min WAN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server-to-server: 1.4 GB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73659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4882896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Netflix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5266944"/>
            <a:ext cx="2916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50.2 min LAN / 1h13 WAN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server-to-server: 38.9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25312"/>
            <a:ext cx="9875520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微软雅黑"/>
              </a:rPr>
              <a:t>论文强调：相比 garbled-circuit 系统，通信和计算低四个数量级；相比 PIRSONA，通信少 8× 且少 1 个非串谋方。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六、实验结果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端到端与横向扩展：训练重，服务轻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11</a:t>
            </a:r>
          </a:p>
        </p:txBody>
      </p:sp>
      <p:pic>
        <p:nvPicPr>
          <p:cNvPr id="12" name="Picture 11" descr="paper-fig7-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83080"/>
            <a:ext cx="6309360" cy="2603743"/>
          </a:xfrm>
          <a:prstGeom prst="rect">
            <a:avLst/>
          </a:prstGeom>
        </p:spPr>
      </p:pic>
      <p:pic>
        <p:nvPicPr>
          <p:cNvPr id="13" name="Picture 12" descr="paper-table8-serv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3566160" cy="25358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206240"/>
            <a:ext cx="6309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微软雅黑"/>
              </a:rPr>
              <a:t>Figure 7：百万级用户/物品下的扩展趋势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06240"/>
            <a:ext cx="35661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微软雅黑"/>
              </a:rPr>
              <a:t>Table 8：Netflix 上端到端服务开销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46320"/>
            <a:ext cx="3246120" cy="822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99262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Criteo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5376672"/>
            <a:ext cx="2916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6.1M users / 700 items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1.5 h · 125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846320"/>
            <a:ext cx="3246120" cy="822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499262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Yelp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5376672"/>
            <a:ext cx="2916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279K users / 148K items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8 h · 248 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46320"/>
            <a:ext cx="3246120" cy="822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992624"/>
            <a:ext cx="29169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Serving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5376672"/>
            <a:ext cx="2916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Netflix user fetch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298 KB · 0.38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25312"/>
            <a:ext cx="9966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微软雅黑"/>
              </a:rPr>
              <a:t>读法：训练阶段是重计算；但模型训练好后，用户拉取推荐只需数百 KB、亚秒级延迟。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217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2992" y="73152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C2028"/>
                </a:solidFill>
                <a:latin typeface="微软雅黑"/>
              </a:rPr>
              <a:t>华中科技大学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2992" y="25603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网络空间安全学院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微软雅黑"/>
              </a:rPr>
              <a:t>七、总结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33271"/>
            <a:ext cx="1069848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002060"/>
                </a:solidFill>
                <a:latin typeface="微软雅黑"/>
              </a:rPr>
              <a:t>局限、扩展与汇报结论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10927080" cy="13716"/>
          </a:xfrm>
          <a:prstGeom prst="rect">
            <a:avLst/>
          </a:prstGeom>
          <a:solidFill>
            <a:srgbClr val="D2D8E2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00" b="0">
                <a:solidFill>
                  <a:srgbClr val="5B6372"/>
                </a:solidFill>
                <a:latin typeface="微软雅黑"/>
              </a:rPr>
              <a:t>Nudge: A Private Recommendations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5B6372"/>
                </a:solidFill>
                <a:latin typeface="微软雅黑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34290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975104"/>
            <a:ext cx="30998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软雅黑"/>
              </a:rPr>
              <a:t>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35915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需要 3 个非串谋服务器，只容忍 1 个半诚实 compromise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不负责私有内容获取；需和 PIR / 匿名代理配合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最终模型 B 仍可能编码聚合用户行为信息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训练成本显著高于明文系统，且密态矩阵无法利用稀疏性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828800"/>
            <a:ext cx="34290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975104"/>
            <a:ext cx="30998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微软雅黑"/>
              </a:rPr>
              <a:t>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5915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随机投影：先把 U·S 压到低维 sketch，再做私有矩阵分解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差分隐私：对 UᵀU 加高斯噪声，Netflix nDCG@20 从 0.29 降到 0.24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输入有效性检查：验证评分在 {0,1}，几乎免费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可迁移到 PCA、PageRank、谱聚类、低维 embedding 等任务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828800"/>
            <a:ext cx="34290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975104"/>
            <a:ext cx="30998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2E7D50"/>
                </a:solidFill>
                <a:latin typeface="微软雅黑"/>
              </a:rPr>
              <a:t>一句话评价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35915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Nudge 的核心贡献不是“更复杂的推荐模型”，而是选择了适合 MPC 的线性代数算法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通过 power iteration + 3PC/FSS co-design，把私有推荐推进到 Netflix 量级</a:t>
            </a:r>
          </a:p>
          <a:p>
            <a:pPr marL="285750" indent="-171450">
              <a:spcAft>
                <a:spcPts val="400"/>
              </a:spcAft>
              <a:defRPr sz="1200">
                <a:solidFill>
                  <a:srgbClr val="1C2028"/>
                </a:solidFill>
                <a:latin typeface="微软雅黑"/>
              </a:defRPr>
            </a:pPr>
            <a:r>
              <a:t>适合从“算法结构如何决定密码协议成本”这个角度讲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9875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</a:rPr>
              <a:t>开放问题：恶意安全、多方数扩展、仅 2 个非串谋服务器且不牺牲性能。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