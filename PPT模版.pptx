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872" r:id="rId4"/>
    <p:sldId id="2852" r:id="rId6"/>
    <p:sldId id="2875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05" autoAdjust="0"/>
    <p:restoredTop sz="89913" autoAdjust="0"/>
  </p:normalViewPr>
  <p:slideViewPr>
    <p:cSldViewPr snapToGrid="0" showGuides="1">
      <p:cViewPr varScale="1">
        <p:scale>
          <a:sx n="109" d="100"/>
          <a:sy n="109" d="100"/>
        </p:scale>
        <p:origin x="691" y="62"/>
      </p:cViewPr>
      <p:guideLst>
        <p:guide orient="horz" pos="2074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EE5EE-F46C-ED4F-BA58-A3742ED4588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08585-263C-9A41-ACEF-3CAC6F030A5E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各位老师好，今天汇报的是 CCS 2025 的工作 Lodia，关注在同态加密下如何高效做稀疏矩阵向量乘。</a:t>
            </a:r>
          </a:p>
          <a:p>
            <a:r>
              <a:t>这项工作由清华大学与蚂蚁集团合作完成，我会从背景、方法、理论结果、工程实现和实验几个部分展开。</a:t>
            </a:r>
          </a:p>
          <a:p>
            <a:r>
              <a:t>欢迎在报告过程中随时记录问题，最后 Q&amp;A 一起讨论。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B8C0A-7378-47DE-A612-30C8950F73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各位老师好，今天汇报的是 CCS 2025 的工作 Lodia，关注在同态加密下如何高效做稀疏矩阵向量乘。</a:t>
            </a:r>
          </a:p>
          <a:p>
            <a:r>
              <a:t>这项工作由清华大学与蚂蚁集团合作完成，我会从背景、方法、理论结果、工程实现和实验几个部分展开。</a:t>
            </a:r>
          </a:p>
          <a:p>
            <a:r>
              <a:t>欢迎在报告过程中随时记录问题，最后 Q&amp;A 一起讨论。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jpe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0" y="1"/>
            <a:ext cx="12192001" cy="668124"/>
            <a:chOff x="0" y="1"/>
            <a:chExt cx="12192001" cy="773892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26" t="1755" r="7137" b="1"/>
            <a:stretch>
              <a:fillRect/>
            </a:stretch>
          </p:blipFill>
          <p:spPr>
            <a:xfrm>
              <a:off x="0" y="1"/>
              <a:ext cx="12192000" cy="773892"/>
            </a:xfrm>
            <a:prstGeom prst="rect">
              <a:avLst/>
            </a:prstGeom>
            <a:effectLst>
              <a:outerShdw blurRad="203200" dist="63500" dir="5400000" algn="t" rotWithShape="0">
                <a:prstClr val="black">
                  <a:alpha val="29000"/>
                </a:prstClr>
              </a:outerShdw>
            </a:effectLst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5601" y="5757"/>
              <a:ext cx="2946400" cy="7623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矩形: 圆角 18"/>
          <p:cNvSpPr/>
          <p:nvPr userDrawn="1"/>
        </p:nvSpPr>
        <p:spPr>
          <a:xfrm>
            <a:off x="0" y="51734"/>
            <a:ext cx="116681" cy="56465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9604609" y="99726"/>
            <a:ext cx="2253562" cy="468674"/>
            <a:chOff x="6095999" y="346453"/>
            <a:chExt cx="3522032" cy="732477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5849" y="346453"/>
              <a:ext cx="2552182" cy="732477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5999" y="350457"/>
              <a:ext cx="1020957" cy="724469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城市的风景&#10;&#10;描述已自动生成"/>
          <p:cNvPicPr>
            <a:picLocks noChangeAspect="1"/>
          </p:cNvPicPr>
          <p:nvPr userDrawn="1"/>
        </p:nvPicPr>
        <p:blipFill rotWithShape="1">
          <a:blip r:embed="rId2"/>
          <a:srcRect b="3365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lang="zh-CN" altLang="en-US" sz="6000" b="1" kern="1200">
                <a:solidFill>
                  <a:srgbClr val="C00000"/>
                </a:solidFill>
                <a:effectLst>
                  <a:glow rad="762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36380"/>
            <a:ext cx="9144000" cy="1321420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4000" b="1" kern="1200" dirty="0">
                <a:solidFill>
                  <a:srgbClr val="C00000"/>
                </a:solidFill>
                <a:effectLst>
                  <a:glow rad="76200">
                    <a:schemeClr val="bg1"/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26" t="1755" r="7137" b="1"/>
          <a:stretch>
            <a:fillRect/>
          </a:stretch>
        </p:blipFill>
        <p:spPr>
          <a:xfrm>
            <a:off x="0" y="1"/>
            <a:ext cx="12192000" cy="668124"/>
          </a:xfrm>
          <a:prstGeom prst="rect">
            <a:avLst/>
          </a:prstGeom>
          <a:effectLst>
            <a:outerShdw blurRad="203200" dist="63500" dir="5400000" algn="t" rotWithShape="0">
              <a:prstClr val="black">
                <a:alpha val="29000"/>
              </a:prstClr>
            </a:outerShdw>
          </a:effectLst>
        </p:spPr>
      </p:pic>
      <p:sp>
        <p:nvSpPr>
          <p:cNvPr id="19" name="矩形: 圆角 18"/>
          <p:cNvSpPr/>
          <p:nvPr userDrawn="1"/>
        </p:nvSpPr>
        <p:spPr>
          <a:xfrm>
            <a:off x="0" y="51734"/>
            <a:ext cx="116681" cy="56465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alphaModFix amt="80000"/>
          </a:blip>
          <a:srcRect l="23016" t="19555" r="23398" b="18000"/>
          <a:stretch>
            <a:fillRect/>
          </a:stretch>
        </p:blipFill>
        <p:spPr>
          <a:xfrm>
            <a:off x="11278180" y="1"/>
            <a:ext cx="913820" cy="91058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91790" y="51734"/>
            <a:ext cx="10515600" cy="616392"/>
          </a:xfrm>
        </p:spPr>
        <p:txBody>
          <a:bodyPr>
            <a:noAutofit/>
          </a:bodyPr>
          <a:lstStyle>
            <a:lvl1pPr>
              <a:defRPr sz="4000" b="1" baseline="0">
                <a:solidFill>
                  <a:srgbClr val="002060"/>
                </a:solidFill>
                <a:latin typeface="Heiti SC Medium" panose="02000000000000000000" pitchFamily="2" charset="-128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0" y="1"/>
            <a:ext cx="12192001" cy="668124"/>
            <a:chOff x="0" y="1"/>
            <a:chExt cx="12192001" cy="773892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26" t="1755" r="7137" b="1"/>
            <a:stretch>
              <a:fillRect/>
            </a:stretch>
          </p:blipFill>
          <p:spPr>
            <a:xfrm>
              <a:off x="0" y="1"/>
              <a:ext cx="12192000" cy="773892"/>
            </a:xfrm>
            <a:prstGeom prst="rect">
              <a:avLst/>
            </a:prstGeom>
            <a:effectLst>
              <a:outerShdw blurRad="203200" dist="63500" dir="5400000" algn="t" rotWithShape="0">
                <a:prstClr val="black">
                  <a:alpha val="29000"/>
                </a:prstClr>
              </a:outerShdw>
            </a:effectLst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5601" y="5757"/>
              <a:ext cx="2946400" cy="7623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矩形: 圆角 18"/>
          <p:cNvSpPr/>
          <p:nvPr userDrawn="1"/>
        </p:nvSpPr>
        <p:spPr>
          <a:xfrm>
            <a:off x="0" y="51734"/>
            <a:ext cx="116681" cy="56465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9" tIns="45704" rIns="91409" bIns="4570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5175" y="-22225"/>
            <a:ext cx="25368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683D0-85BA-9A44-B4CA-1186CA206E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1D17A-8230-C545-A300-F15A266F56F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5290" y="2068195"/>
            <a:ext cx="11314430" cy="1492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sz="2800" b="1">
                <a:latin typeface="Arial" panose="020B0604020202090204" pitchFamily="34" charset="0"/>
                <a:cs typeface="Arial" panose="020B0604020202090204" pitchFamily="34" charset="0"/>
              </a:rPr>
              <a:t>Lodia: Towards Optimal Sparse Matrix-Vector Multiplication for</a:t>
            </a:r>
            <a:endParaRPr sz="2800" b="1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b="1">
                <a:latin typeface="Arial" panose="020B0604020202090204" pitchFamily="34" charset="0"/>
                <a:cs typeface="Arial" panose="020B0604020202090204" pitchFamily="34" charset="0"/>
              </a:rPr>
              <a:t>Batched Fully Homomorphic Encryption</a:t>
            </a:r>
            <a:endParaRPr sz="28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5072" y="5722179"/>
            <a:ext cx="7341235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t>汇报人：郝泽涛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3561080"/>
            <a:ext cx="10384790" cy="1866265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180340" y="812800"/>
            <a:ext cx="9365615" cy="739140"/>
            <a:chOff x="2235016" y="7042507"/>
            <a:chExt cx="7381902" cy="440036"/>
          </a:xfrm>
        </p:grpSpPr>
        <p:sp>
          <p:nvSpPr>
            <p:cNvPr id="56" name="平行四边形 55"/>
            <p:cNvSpPr/>
            <p:nvPr/>
          </p:nvSpPr>
          <p:spPr>
            <a:xfrm>
              <a:off x="2259393" y="7042507"/>
              <a:ext cx="400542" cy="195422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平行四边形 56"/>
            <p:cNvSpPr/>
            <p:nvPr/>
          </p:nvSpPr>
          <p:spPr>
            <a:xfrm>
              <a:off x="2235016" y="7096389"/>
              <a:ext cx="7381902" cy="386154"/>
            </a:xfrm>
            <a:prstGeom prst="parallelogram">
              <a:avLst/>
            </a:prstGeom>
            <a:gradFill flip="none" rotWithShape="1">
              <a:gsLst>
                <a:gs pos="69000">
                  <a:srgbClr val="1A5CC0">
                    <a:alpha val="51000"/>
                  </a:srgbClr>
                </a:gs>
                <a:gs pos="100000">
                  <a:srgbClr val="1A5CC0">
                    <a:alpha val="0"/>
                  </a:srgbClr>
                </a:gs>
                <a:gs pos="0">
                  <a:srgbClr val="1A5CC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55" name="矩形 54"/>
          <p:cNvSpPr/>
          <p:nvPr/>
        </p:nvSpPr>
        <p:spPr>
          <a:xfrm>
            <a:off x="448945" y="926465"/>
            <a:ext cx="7329805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隐私保护的SpMV</a:t>
            </a:r>
            <a:endParaRPr kumimoji="1"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91790" y="51734"/>
            <a:ext cx="10515600" cy="6163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4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sz="4000">
                <a:sym typeface="+mn-ea"/>
              </a:rPr>
              <a:t>研究背景</a:t>
            </a:r>
            <a:endParaRPr kumimoji="1" lang="zh-CN" altLang="en-US" sz="4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5290" y="2068195"/>
            <a:ext cx="11314430" cy="1492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sz="2800" b="1">
                <a:latin typeface="Arial" panose="020B0604020202090204" pitchFamily="34" charset="0"/>
                <a:cs typeface="Arial" panose="020B0604020202090204" pitchFamily="34" charset="0"/>
              </a:rPr>
              <a:t>Lodia: Towards Optimal Sparse Matrix-Vector Multiplication for</a:t>
            </a:r>
            <a:endParaRPr sz="2800" b="1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sz="2800" b="1">
                <a:latin typeface="Arial" panose="020B0604020202090204" pitchFamily="34" charset="0"/>
                <a:cs typeface="Arial" panose="020B0604020202090204" pitchFamily="34" charset="0"/>
              </a:rPr>
              <a:t>Batched Fully Homomorphic Encryption</a:t>
            </a:r>
            <a:endParaRPr sz="28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85072" y="5722179"/>
            <a:ext cx="7341235" cy="980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t>汇报人：郝泽涛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3561080"/>
            <a:ext cx="10384790" cy="1866265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</p:sld>
</file>

<file path=ppt/tags/tag1.xml><?xml version="1.0" encoding="utf-8"?>
<p:tagLst xmlns:p="http://schemas.openxmlformats.org/presentationml/2006/main">
  <p:tag name="KSO_WPP_MARK_KEY" val="b3777179-4d8c-4faa-8a1d-a0e6c5a1c2f1"/>
  <p:tag name="COMMONDATA" val="eyJoZGlkIjoiYmI1Y2UxOGNkZmY3NWQwZTkzODdmOTI0M2MyOTk0YT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WPS 演示</Application>
  <PresentationFormat>宽屏</PresentationFormat>
  <Paragraphs>15</Paragraphs>
  <Slides>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</vt:lpstr>
      <vt:lpstr>Heiti SC Medium</vt:lpstr>
      <vt:lpstr>Calibri</vt:lpstr>
      <vt:lpstr>等线</vt:lpstr>
      <vt:lpstr>Wingdings</vt:lpstr>
      <vt:lpstr>Cambria Math</vt:lpstr>
      <vt:lpstr>汉仪中等线KW</vt:lpstr>
      <vt:lpstr>宋体</vt:lpstr>
      <vt:lpstr>Arial Unicode MS</vt:lpstr>
      <vt:lpstr>等线 Light</vt:lpstr>
      <vt:lpstr>Helvetica Neue</vt:lpstr>
      <vt:lpstr>汉仪书宋二KW</vt:lpstr>
      <vt:lpstr>Kingsoft Math</vt:lpstr>
      <vt:lpstr>微软雅黑</vt:lpstr>
      <vt:lpstr>等线</vt:lpstr>
      <vt:lpstr>Apple Symbols</vt:lpstr>
      <vt:lpstr>Office 主题​​</vt:lpstr>
      <vt:lpstr>1_Office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 鹏</dc:creator>
  <cp:lastModifiedBy>企业用户_1285285900</cp:lastModifiedBy>
  <cp:revision>1054</cp:revision>
  <dcterms:created xsi:type="dcterms:W3CDTF">2026-06-03T14:03:24Z</dcterms:created>
  <dcterms:modified xsi:type="dcterms:W3CDTF">2026-06-03T14:03:24Z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19C5E8ACD4C7C1662B34206A9A850C73_43</vt:lpwstr>
  </property>
  <property fmtid="{D5CDD505-2E9C-101B-9397-08002B2CF9AE}" pid="3" name="KSOProductBuildVer">
    <vt:lpwstr>2052-12.1.25895.25895</vt:lpwstr>
  </property>
</Properties>
</file>